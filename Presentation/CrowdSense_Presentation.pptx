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731520"/>
            <a:ext cx="3538727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49808"/>
            <a:ext cx="3538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ENGINEERING PRODUCT DESIGN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2588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Smart Crowd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33172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E5FF"/>
                </a:solidFill>
                <a:latin typeface="Calibri"/>
              </a:rPr>
              <a:t>Monitoring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Device Density Simulation  +  Time-Based Behavioral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78"/>
                </a:solidFill>
                <a:latin typeface="Calibri"/>
              </a:rPr>
              <a:t>Canteen   |   Library   |   Gym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4087368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4041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  <a:latin typeface="Calibri"/>
              </a:rPr>
              <a:t>LIVE SIMULATION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89320"/>
            <a:ext cx="11823192" cy="685800"/>
          </a:xfrm>
          <a:prstGeom prst="rect">
            <a:avLst/>
          </a:prstGeom>
          <a:solidFill>
            <a:srgbClr val="12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A78"/>
                </a:solidFill>
                <a:latin typeface="Calibri"/>
              </a:rPr>
              <a:t>4th Semester   |   Computer Science Engineering   |   Full Stack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371600" cy="2743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3383280" cy="32918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54864" cy="32918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103120"/>
            <a:ext cx="502920" cy="5029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1744"/>
                </a:solidFill>
                <a:latin typeface="Calibri"/>
              </a:rPr>
              <a:t>No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Students have no way to know how crowded
the canteen, library or gym is before going.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920240"/>
            <a:ext cx="3383280" cy="32918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920240"/>
            <a:ext cx="54864" cy="329184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2103120"/>
            <a:ext cx="502920" cy="50292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726"/>
                </a:solidFill>
                <a:latin typeface="Calibri"/>
              </a:rPr>
              <a:t>Wasted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291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Students waste time waiting in queues or
walking to already-full locations.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3383280" cy="32918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1920240"/>
            <a:ext cx="54864" cy="32918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2103120"/>
            <a:ext cx="50292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No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291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Real crowd sensors are expensive. We need
a smart software-only solution.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6A78"/>
                </a:solidFill>
                <a:latin typeface="Calibri"/>
              </a:rPr>
              <a:t>How do we estimate crowd without physical sensors?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426464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Core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834640" cy="155448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" cy="1554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50292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Device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3347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Simulated WiFi / Bluetooth
devices detected in 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94760"/>
            <a:ext cx="2834640" cy="155448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94760"/>
            <a:ext cx="54864" cy="155448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977639"/>
            <a:ext cx="502920" cy="50292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95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FF"/>
                </a:solidFill>
                <a:latin typeface="Calibri"/>
              </a:rPr>
              <a:t>Time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1655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Peak hours, morning,
lunch and evening ranges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6A78"/>
                </a:solidFill>
                <a:latin typeface="Calibri"/>
              </a:rPr>
              <a:t>--&gt;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606040"/>
            <a:ext cx="3017520" cy="1828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2606040"/>
            <a:ext cx="54864" cy="1828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PREDICTION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154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Time-based ranges
+ Location multiplier
+ Random fluctuation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6A78"/>
                </a:solidFill>
                <a:latin typeface="Calibri"/>
              </a:rPr>
              <a:t>--&gt;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194560"/>
            <a:ext cx="2834640" cy="265176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194560"/>
            <a:ext cx="54864" cy="2651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Calibri"/>
              </a:rPr>
              <a:t>OUTPUT</a:t>
            </a:r>
          </a:p>
        </p:txBody>
      </p:sp>
      <p:sp>
        <p:nvSpPr>
          <p:cNvPr id="28" name="Oval 27"/>
          <p:cNvSpPr/>
          <p:nvPr/>
        </p:nvSpPr>
        <p:spPr>
          <a:xfrm>
            <a:off x="9189720" y="2788920"/>
            <a:ext cx="91440" cy="914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Crowd Level  (Low/Med/High)</a:t>
            </a:r>
          </a:p>
        </p:txBody>
      </p:sp>
      <p:sp>
        <p:nvSpPr>
          <p:cNvPr id="30" name="Oval 29"/>
          <p:cNvSpPr/>
          <p:nvPr/>
        </p:nvSpPr>
        <p:spPr>
          <a:xfrm>
            <a:off x="9189720" y="3291839"/>
            <a:ext cx="91440" cy="914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Wait Time Estimate</a:t>
            </a:r>
          </a:p>
        </p:txBody>
      </p:sp>
      <p:sp>
        <p:nvSpPr>
          <p:cNvPr id="32" name="Oval 31"/>
          <p:cNvSpPr/>
          <p:nvPr/>
        </p:nvSpPr>
        <p:spPr>
          <a:xfrm>
            <a:off x="9189720" y="3794760"/>
            <a:ext cx="91440" cy="914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7490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Trend Graph</a:t>
            </a:r>
          </a:p>
        </p:txBody>
      </p:sp>
      <p:sp>
        <p:nvSpPr>
          <p:cNvPr id="34" name="Oval 33"/>
          <p:cNvSpPr/>
          <p:nvPr/>
        </p:nvSpPr>
        <p:spPr>
          <a:xfrm>
            <a:off x="9189720" y="4297680"/>
            <a:ext cx="91440" cy="914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Peak Hour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906524" cy="27432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9065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TECH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515600" cy="12344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" cy="1234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21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50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HTML + CSS +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Homepage with location selector  |  Live Dashboard  |  Chart.js Graph  |  Auto-refresh every 8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10515600" cy="12344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474720"/>
            <a:ext cx="54864" cy="123444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584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0F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13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Python +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2219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REST API routing  |  Prediction Engine  |  Location Multipliers  |  JSON Responses to frontend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37760"/>
            <a:ext cx="10515600" cy="12344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937760"/>
            <a:ext cx="54864" cy="12344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047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  <a:latin typeface="Calibr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76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SQLite3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2852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Table: crowd_logs  |  Columns: id, location, device_count, crowd_level, wait_time, timestamp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400800"/>
            <a:ext cx="10515600" cy="274320"/>
          </a:xfrm>
          <a:prstGeom prst="rect">
            <a:avLst/>
          </a:prstGeom>
          <a:solidFill>
            <a:srgbClr val="12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4190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8"/>
                </a:solidFill>
                <a:latin typeface="Consolas"/>
              </a:rPr>
              <a:t>API:   GET /api/crowd?location=Canteen   -&gt;   Returns JSON  { device_count, crowd_level, wait_time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906524" cy="274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9065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PREDICTION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Algorithm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5486400" cy="4663440"/>
          </a:xfrm>
          <a:prstGeom prst="rect">
            <a:avLst/>
          </a:prstGeom>
          <a:solidFill>
            <a:srgbClr val="050A0E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onsolas"/>
              </a:rPr>
              <a:t>hour = datetime.now().hour
# Step 1: Time-based range
if 12 &lt;= hour &lt;= 14:
    base = randint(60, 100)   # Lunch
elif 17 &lt;= hour &lt;= 20:
    base = randint(40, 70)    # Evening
else:
    base = randint(10, 30)    # Normal
# Step 2: Location multiplier
Canteen=1.2x  Library=0.7x  Gym=0.9x
# Step 3: Fluctuation
live = base x multiplier + randint(-5,5)
# Step 4: Classify
if live &gt; 70:   -&gt; HIGH   (15-20 min)
elif live &gt; 40: -&gt; MEDIUM (5-10 min)
else:           -&gt; LOW    (0-5 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874519"/>
            <a:ext cx="5120640" cy="1024128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1874519"/>
            <a:ext cx="54864" cy="10241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65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9659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Time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7743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Checks hour to pick realistic device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035808"/>
            <a:ext cx="5120640" cy="1024128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3035808"/>
            <a:ext cx="54864" cy="1024128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1272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0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1272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Location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5387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Each location has a unique density factor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4197096"/>
            <a:ext cx="5120640" cy="1024128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4197096"/>
            <a:ext cx="54864" cy="10241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2885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2885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Live Fluctuation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70001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+-5 random offset gives real-time feel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5358383"/>
            <a:ext cx="5120640" cy="1024128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5358383"/>
            <a:ext cx="54864" cy="1024128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544982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726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449823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861303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Device count maps to Low / Medium / 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2002536" cy="27432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FEATURES &amp;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3474720" cy="19202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65960"/>
            <a:ext cx="54864" cy="1920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148840"/>
            <a:ext cx="50292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67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Device Counter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Generates realistic device counts
based on time-of-day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965960"/>
            <a:ext cx="3474720" cy="19202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965960"/>
            <a:ext cx="54864" cy="192024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2148840"/>
            <a:ext cx="502920" cy="50292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167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FF"/>
                </a:solidFill>
                <a:latin typeface="Calibri"/>
              </a:rPr>
              <a:t>Time Pattern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74320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Defines peak hours and adjusts
crowd intensity per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965960"/>
            <a:ext cx="3474720" cy="19202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1965960"/>
            <a:ext cx="54864" cy="1920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2148840"/>
            <a:ext cx="502920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167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Prediction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74320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Core logic converts device count
to crowd level + wait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114800"/>
            <a:ext cx="3474720" cy="19202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114800"/>
            <a:ext cx="54864" cy="192024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4297680"/>
            <a:ext cx="502920" cy="50292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315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726"/>
                </a:solidFill>
                <a:latin typeface="Calibri"/>
              </a:rPr>
              <a:t>Database Logger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9204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Saves every reading to SQLite
for historical trend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4114800"/>
            <a:ext cx="3474720" cy="19202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4114800"/>
            <a:ext cx="54864" cy="192024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4297680"/>
            <a:ext cx="502920" cy="5029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315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00FF"/>
                </a:solidFill>
                <a:latin typeface="Calibri"/>
              </a:rPr>
              <a:t>REST API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89204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Flask endpoints return JSON
consumed by JS fetch() calls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4114800"/>
            <a:ext cx="3474720" cy="19202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4114800"/>
            <a:ext cx="54864" cy="19202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4297680"/>
            <a:ext cx="502920" cy="5029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80C10"/>
                </a:solidFill>
                <a:latin typeface="Calibri"/>
              </a:rPr>
              <a:t>&gt;&gt;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59" y="4315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1744"/>
                </a:solidFill>
                <a:latin typeface="Calibri"/>
              </a:rPr>
              <a:t>Live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89204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Calibri"/>
              </a:rPr>
              <a:t>Auto-refreshes every 8 seconds
with Chart.js trend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810512" cy="2743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Built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10515600" cy="685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54864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562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HTML5 + 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85623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Frontend Structure &amp; Styling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5623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8"/>
                </a:solidFill>
                <a:latin typeface="Calibri"/>
              </a:rPr>
              <a:t>Responsive dark-themed UI with CSS variables, animations, grid layout, and auto-refresh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60320"/>
            <a:ext cx="10515600" cy="685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560320"/>
            <a:ext cx="54864" cy="6858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33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FF"/>
                </a:solidFill>
                <a:latin typeface="Calibri"/>
              </a:rPr>
              <a:t>JavaScript (Vanilla)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334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Frontend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334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8"/>
                </a:solidFill>
                <a:latin typeface="Calibri"/>
              </a:rPr>
              <a:t>fetch() API calls every 8s, setInterval() for auto-refresh, Chart.js graph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37560"/>
            <a:ext cx="10515600" cy="685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337560"/>
            <a:ext cx="54864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410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Python 3.13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410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Backend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107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8"/>
                </a:solidFill>
                <a:latin typeface="Calibri"/>
              </a:rPr>
              <a:t>Core prediction logic, datetime processing, random number simulation, SQLite 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14800"/>
            <a:ext cx="10515600" cy="685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114800"/>
            <a:ext cx="54864" cy="6858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726"/>
                </a:solidFill>
                <a:latin typeface="Calibri"/>
              </a:rPr>
              <a:t>Flask 3.1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879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8"/>
                </a:solidFill>
                <a:latin typeface="Calibri"/>
              </a:rPr>
              <a:t>REST API routing, Jinja2 template rendering, JSON serialisation, debug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892040"/>
            <a:ext cx="10515600" cy="685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892040"/>
            <a:ext cx="54864" cy="6858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965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1744"/>
                </a:solidFill>
                <a:latin typeface="Calibri"/>
              </a:rPr>
              <a:t>SQLite3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9651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9651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8"/>
                </a:solidFill>
                <a:latin typeface="Calibri"/>
              </a:rPr>
              <a:t>Zero-setup file database built into Python — stores all crowd readings permanently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669280"/>
            <a:ext cx="10515600" cy="6858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5669280"/>
            <a:ext cx="54864" cy="6858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7424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00FF"/>
                </a:solidFill>
                <a:latin typeface="Calibri"/>
              </a:rPr>
              <a:t>Chart.js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742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Visualisation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7424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8"/>
                </a:solidFill>
                <a:latin typeface="Calibri"/>
              </a:rPr>
              <a:t>Line graph showing device count history over last 12 readings — loaded via CDN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618488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618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What You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7132320" cy="466344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7132320" cy="6400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Canteen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029968"/>
            <a:ext cx="1371600" cy="292608"/>
          </a:xfrm>
          <a:prstGeom prst="rect">
            <a:avLst/>
          </a:prstGeom>
          <a:solidFill>
            <a:srgbClr val="33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0482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744"/>
                </a:solidFill>
                <a:latin typeface="Calibri"/>
              </a:rPr>
              <a:t>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560320"/>
            <a:ext cx="2103120" cy="1371600"/>
          </a:xfrm>
          <a:prstGeom prst="rect">
            <a:avLst/>
          </a:prstGeom>
          <a:solidFill>
            <a:srgbClr val="080C1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8"/>
                </a:solidFill>
                <a:latin typeface="Calibri"/>
              </a:rPr>
              <a:t>LIVE 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alibri"/>
              </a:rPr>
              <a:t>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39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8"/>
                </a:solidFill>
                <a:latin typeface="Calibri"/>
              </a:rPr>
              <a:t>detected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560320"/>
            <a:ext cx="2103120" cy="1371600"/>
          </a:xfrm>
          <a:prstGeom prst="rect">
            <a:avLst/>
          </a:prstGeom>
          <a:solidFill>
            <a:srgbClr val="080C1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8"/>
                </a:solidFill>
                <a:latin typeface="Calibri"/>
              </a:rPr>
              <a:t>CROWD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1744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8"/>
                </a:solidFill>
                <a:latin typeface="Calibri"/>
              </a:rPr>
              <a:t>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560320"/>
            <a:ext cx="2103120" cy="1371600"/>
          </a:xfrm>
          <a:prstGeom prst="rect">
            <a:avLst/>
          </a:prstGeom>
          <a:solidFill>
            <a:srgbClr val="080C1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8"/>
                </a:solidFill>
                <a:latin typeface="Calibri"/>
              </a:rPr>
              <a:t>WAIT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726"/>
                </a:solidFill>
                <a:latin typeface="Calibri"/>
              </a:rPr>
              <a:t>15-20m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8"/>
                </a:solidFill>
                <a:latin typeface="Calibri"/>
              </a:rPr>
              <a:t>estimated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8"/>
                </a:solidFill>
                <a:latin typeface="Calibri"/>
              </a:rPr>
              <a:t>Device Count History  (last 12 readings)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526280"/>
            <a:ext cx="6858000" cy="1645920"/>
          </a:xfrm>
          <a:prstGeom prst="rect">
            <a:avLst/>
          </a:prstGeom>
          <a:solidFill>
            <a:srgbClr val="060A0E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5821070"/>
            <a:ext cx="320040" cy="213969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28216" y="5654649"/>
            <a:ext cx="320040" cy="38039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67712" y="5737859"/>
            <a:ext cx="320040" cy="29718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7208" y="5321807"/>
            <a:ext cx="320040" cy="713232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46704" y="5143500"/>
            <a:ext cx="320040" cy="89154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86200" y="5060289"/>
            <a:ext cx="320040" cy="97475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25696" y="5202936"/>
            <a:ext cx="320040" cy="832103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65192" y="5416905"/>
            <a:ext cx="320040" cy="618134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04688" y="5345582"/>
            <a:ext cx="320040" cy="689457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44183" y="5202936"/>
            <a:ext cx="320040" cy="832103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79" y="5262372"/>
            <a:ext cx="320040" cy="772668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23175" y="5107838"/>
            <a:ext cx="320040" cy="927201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Demo Flow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42316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237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1.  Open homepage, select location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172968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31272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2.  Dashboard loads with live data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92277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13648" y="387705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3.  Auto-refreshes every 8 seconds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467258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3648" y="462686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4.  Graph builds historical trend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542239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3648" y="53766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Calibri"/>
              </a:rPr>
              <a:t>5.  Switch tabs — compare locations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1426464" cy="274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0C10"/>
                </a:solidFill>
                <a:latin typeface="Calibr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5349240" cy="13716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54864" cy="1371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03120"/>
            <a:ext cx="457200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0"/>
                </a:solidFill>
                <a:latin typeface="Calibri"/>
              </a:rPr>
              <a:t>HW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848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Real Hardware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8716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Raspberry Pi with WiFi probe sniffers to detect actual device signals — no more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5349240" cy="13716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920240"/>
            <a:ext cx="54864" cy="13716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2103120"/>
            <a:ext cx="457200" cy="4572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0"/>
                </a:solidFill>
                <a:latin typeface="Calibri"/>
              </a:rPr>
              <a:t>CLD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0848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FF"/>
                </a:solidFill>
                <a:latin typeface="Calibri"/>
              </a:rPr>
              <a:t>Cloud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48716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Host on AWS or Heroku so any student accesses it from phone without running server locally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474720"/>
            <a:ext cx="5349240" cy="13716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474720"/>
            <a:ext cx="54864" cy="13716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0"/>
                </a:solidFill>
                <a:latin typeface="Calibri"/>
              </a:rPr>
              <a:t>MOB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6393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Mobile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04164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React Native app with push alerts: 'Canteen is getting crowded — go now!'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474720"/>
            <a:ext cx="5349240" cy="13716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3474720"/>
            <a:ext cx="54864" cy="13716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3657600"/>
            <a:ext cx="457200" cy="4572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0"/>
                </a:solidFill>
                <a:latin typeface="Calibri"/>
              </a:rPr>
              <a:t>ALT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6393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726"/>
                </a:solidFill>
                <a:latin typeface="Calibri"/>
              </a:rPr>
              <a:t>Smart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04164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Email/SMS alerts when crowd exceeds threshold — automated using Twilio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029200"/>
            <a:ext cx="5349240" cy="13716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5029200"/>
            <a:ext cx="54864" cy="13716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5212080"/>
            <a:ext cx="457200" cy="4572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0"/>
                </a:solidFill>
                <a:latin typeface="Calibri"/>
              </a:rPr>
              <a:t>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1937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00FF"/>
                </a:solidFill>
                <a:latin typeface="Calibri"/>
              </a:rPr>
              <a:t>Machine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59612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Train ML model on logged data to predict future crowd levels before they happen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5029200"/>
            <a:ext cx="5349240" cy="1371600"/>
          </a:xfrm>
          <a:prstGeom prst="rect">
            <a:avLst/>
          </a:prstGeom>
          <a:solidFill>
            <a:srgbClr val="121920"/>
          </a:solidFill>
          <a:ln w="12700">
            <a:solidFill>
              <a:srgbClr val="1E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5029200"/>
            <a:ext cx="54864" cy="13716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0" y="5212080"/>
            <a:ext cx="457200" cy="4572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0"/>
                </a:solidFill>
                <a:latin typeface="Calibri"/>
              </a:rPr>
              <a:t>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1937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1744"/>
                </a:solidFill>
                <a:latin typeface="Calibri"/>
              </a:rPr>
              <a:t>Campus 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59612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8"/>
                </a:solidFill>
                <a:latin typeface="Calibri"/>
              </a:rPr>
              <a:t>Interactive heatmap showing crowd density for all locations simultaneously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1A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29260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E5FF"/>
                </a:solidFill>
                <a:latin typeface="Calibri"/>
              </a:rPr>
              <a:t>Smart Crowd Monitoring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36118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6A78"/>
                </a:solidFill>
                <a:latin typeface="Calibri"/>
              </a:rPr>
              <a:t>Device Density + Time-Based Prediction   |   Flask + SQLite + Chart.js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663440"/>
            <a:ext cx="39593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9377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DF2"/>
                </a:solidFill>
                <a:latin typeface="Calibri"/>
              </a:rPr>
              <a:t>Questions? I'm ready for the viva!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